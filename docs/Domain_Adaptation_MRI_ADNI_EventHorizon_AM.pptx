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US"/>
              <a:t>Performance sul target test Philips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A5CAA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Source-only</c:v>
                </c:pt>
                <c:pt idx="1">
                  <c:v>CycleGAN</c:v>
                </c:pt>
                <c:pt idx="2">
                  <c:v>VAE+GAN</c:v>
                </c:pt>
                <c:pt idx="3">
                  <c:v>AdaIN+GAN</c:v>
                </c:pt>
                <c:pt idx="4">
                  <c:v>Oracle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0.65710000000000002</c:v>
                </c:pt>
                <c:pt idx="1">
                  <c:v>0.42859999999999998</c:v>
                </c:pt>
                <c:pt idx="2">
                  <c:v>0.62860000000000005</c:v>
                </c:pt>
                <c:pt idx="3">
                  <c:v>0.71430000000000005</c:v>
                </c:pt>
                <c:pt idx="4">
                  <c:v>0.34289999999999998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8F0-44E4-A175-93F7515F9F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6696E3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Source-only</c:v>
                </c:pt>
                <c:pt idx="1">
                  <c:v>CycleGAN</c:v>
                </c:pt>
                <c:pt idx="2">
                  <c:v>VAE+GAN</c:v>
                </c:pt>
                <c:pt idx="3">
                  <c:v>AdaIN+GAN</c:v>
                </c:pt>
                <c:pt idx="4">
                  <c:v>Oracle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0.39660000000000001</c:v>
                </c:pt>
                <c:pt idx="1">
                  <c:v>0.42809999999999998</c:v>
                </c:pt>
                <c:pt idx="2">
                  <c:v>0.38600000000000001</c:v>
                </c:pt>
                <c:pt idx="3">
                  <c:v>0.65</c:v>
                </c:pt>
                <c:pt idx="4">
                  <c:v>0.30659999999999998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8F0-44E4-A175-93F7515F9F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9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it-IT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_hero.png"/>
          <p:cNvPicPr>
            <a:picLocks noChangeAspect="1"/>
          </p:cNvPicPr>
          <p:nvPr/>
        </p:nvPicPr>
        <p:blipFill>
          <a:blip r:embed="rId2"/>
          <a:srcRect l="9851" t="7025"/>
          <a:stretch>
            <a:fillRect/>
          </a:stretch>
        </p:blipFill>
        <p:spPr>
          <a:xfrm>
            <a:off x="7452360" y="0"/>
            <a:ext cx="476993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452360" cy="685800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68896" y="0"/>
            <a:ext cx="109728" cy="6858000"/>
          </a:xfrm>
          <a:prstGeom prst="rect">
            <a:avLst/>
          </a:prstGeom>
          <a:solidFill>
            <a:srgbClr val="669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13232" y="658368"/>
            <a:ext cx="64008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F3B"/>
                </a:solidFill>
              </a:rPr>
              <a:t>DL26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4752" y="658368"/>
            <a:ext cx="914400" cy="292608"/>
          </a:xfrm>
          <a:prstGeom prst="round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A5CAA"/>
                </a:solidFill>
              </a:rPr>
              <a:t>TRACK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852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Domain Adaptation
su MRI ADNI</a:t>
            </a:r>
          </a:p>
          <a:p>
            <a:pPr>
              <a:spcBef>
                <a:spcPts val="1200"/>
              </a:spcBef>
            </a:pPr>
            <a:r>
              <a:rPr sz="1800">
                <a:solidFill>
                  <a:srgbClr val="D3E2FA"/>
                </a:solidFill>
              </a:rPr>
              <a:t>Scanner Signatures, CycleGAN
e classificazione CN vs AD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3794760"/>
            <a:ext cx="1188720" cy="45720"/>
          </a:xfrm>
          <a:prstGeom prst="rect">
            <a:avLst/>
          </a:prstGeom>
          <a:solidFill>
            <a:srgbClr val="669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5715000" cy="1508760"/>
          </a:xfrm>
          <a:prstGeom prst="roundRect">
            <a:avLst/>
          </a:prstGeom>
          <a:solidFill>
            <a:srgbClr val="142D50"/>
          </a:solidFill>
          <a:ln>
            <a:solidFill>
              <a:srgbClr val="3D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</a:rPr>
              <a:t>Gruppo: </a:t>
            </a:r>
            <a:r>
              <a:rPr sz="1500" b="1" dirty="0" err="1">
                <a:solidFill>
                  <a:srgbClr val="FFFFFF"/>
                </a:solidFill>
              </a:rPr>
              <a:t>EventHorizon</a:t>
            </a:r>
            <a:endParaRPr sz="1500" b="1" dirty="0">
              <a:solidFill>
                <a:srgbClr val="FFFFFF"/>
              </a:solidFill>
            </a:endParaRPr>
          </a:p>
          <a:p>
            <a:pPr>
              <a:spcBef>
                <a:spcPts val="300"/>
              </a:spcBef>
            </a:pPr>
            <a:r>
              <a:rPr sz="1250" dirty="0" err="1">
                <a:solidFill>
                  <a:srgbClr val="DFE8F6"/>
                </a:solidFill>
              </a:rPr>
              <a:t>Membri</a:t>
            </a:r>
            <a:r>
              <a:rPr sz="1250" dirty="0">
                <a:solidFill>
                  <a:srgbClr val="DFE8F6"/>
                </a:solidFill>
              </a:rPr>
              <a:t>:</a:t>
            </a:r>
            <a:r>
              <a:rPr lang="it-IT" sz="1250" dirty="0">
                <a:solidFill>
                  <a:srgbClr val="DFE8F6"/>
                </a:solidFill>
              </a:rPr>
              <a:t> </a:t>
            </a:r>
            <a:r>
              <a:rPr lang="it-IT" sz="1250" b="1" dirty="0">
                <a:solidFill>
                  <a:srgbClr val="DFE8F6"/>
                </a:solidFill>
              </a:rPr>
              <a:t>Alessia Micieli </a:t>
            </a:r>
            <a:r>
              <a:rPr lang="it-IT" sz="1250" dirty="0">
                <a:solidFill>
                  <a:srgbClr val="DFE8F6"/>
                </a:solidFill>
              </a:rPr>
              <a:t>, Graziano Murabito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DFE8F6"/>
                </a:solidFill>
              </a:rPr>
              <a:t>Repository GitHub: </a:t>
            </a:r>
            <a:r>
              <a:rPr lang="it-IT" sz="1250" dirty="0">
                <a:solidFill>
                  <a:srgbClr val="DFE8F6"/>
                </a:solidFill>
              </a:rPr>
              <a:t>https://github.com/AlessiaMicieli26/EventHorizon_Track8</a:t>
            </a:r>
            <a:endParaRPr sz="1250" dirty="0">
              <a:solidFill>
                <a:srgbClr val="DFE8F6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5925312"/>
            <a:ext cx="571500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 err="1">
                <a:solidFill>
                  <a:srgbClr val="0B1F3B"/>
                </a:solidFill>
              </a:rPr>
              <a:t>Obiettivo</a:t>
            </a:r>
            <a:r>
              <a:rPr sz="1300" b="1" dirty="0">
                <a:solidFill>
                  <a:srgbClr val="0B1F3B"/>
                </a:solidFill>
              </a:rPr>
              <a:t>: </a:t>
            </a:r>
            <a:r>
              <a:rPr sz="1300" b="1" dirty="0" err="1">
                <a:solidFill>
                  <a:srgbClr val="0B1F3B"/>
                </a:solidFill>
              </a:rPr>
              <a:t>capire</a:t>
            </a:r>
            <a:r>
              <a:rPr sz="1300" b="1" dirty="0">
                <a:solidFill>
                  <a:srgbClr val="0B1F3B"/>
                </a:solidFill>
              </a:rPr>
              <a:t> quale </a:t>
            </a:r>
            <a:r>
              <a:rPr sz="1300" b="1" dirty="0" err="1">
                <a:solidFill>
                  <a:srgbClr val="0B1F3B"/>
                </a:solidFill>
              </a:rPr>
              <a:t>tecnica</a:t>
            </a:r>
            <a:r>
              <a:rPr sz="1300" b="1" dirty="0">
                <a:solidFill>
                  <a:srgbClr val="0B1F3B"/>
                </a:solidFill>
              </a:rPr>
              <a:t> di augmentation </a:t>
            </a:r>
            <a:r>
              <a:rPr sz="1300" b="1" dirty="0" err="1">
                <a:solidFill>
                  <a:srgbClr val="0B1F3B"/>
                </a:solidFill>
              </a:rPr>
              <a:t>generalizza</a:t>
            </a:r>
            <a:r>
              <a:rPr sz="1300" b="1" dirty="0">
                <a:solidFill>
                  <a:srgbClr val="0B1F3B"/>
                </a:solidFill>
              </a:rPr>
              <a:t> </a:t>
            </a:r>
            <a:r>
              <a:rPr sz="1300" b="1" dirty="0" err="1">
                <a:solidFill>
                  <a:srgbClr val="0B1F3B"/>
                </a:solidFill>
              </a:rPr>
              <a:t>meglio</a:t>
            </a:r>
            <a:r>
              <a:rPr sz="1300" b="1" dirty="0">
                <a:solidFill>
                  <a:srgbClr val="0B1F3B"/>
                </a:solidFill>
              </a:rPr>
              <a:t> </a:t>
            </a:r>
            <a:r>
              <a:rPr sz="1300" b="1" dirty="0" err="1">
                <a:solidFill>
                  <a:srgbClr val="0B1F3B"/>
                </a:solidFill>
              </a:rPr>
              <a:t>quando</a:t>
            </a:r>
            <a:r>
              <a:rPr sz="1300" b="1" dirty="0">
                <a:solidFill>
                  <a:srgbClr val="0B1F3B"/>
                </a:solidFill>
              </a:rPr>
              <a:t> </a:t>
            </a:r>
            <a:r>
              <a:rPr sz="1300" b="1" dirty="0" err="1">
                <a:solidFill>
                  <a:srgbClr val="0B1F3B"/>
                </a:solidFill>
              </a:rPr>
              <a:t>si</a:t>
            </a:r>
            <a:r>
              <a:rPr sz="1300" b="1" dirty="0">
                <a:solidFill>
                  <a:srgbClr val="0B1F3B"/>
                </a:solidFill>
              </a:rPr>
              <a:t> </a:t>
            </a:r>
            <a:r>
              <a:rPr sz="1300" b="1" dirty="0" err="1">
                <a:solidFill>
                  <a:srgbClr val="0B1F3B"/>
                </a:solidFill>
              </a:rPr>
              <a:t>passa</a:t>
            </a:r>
            <a:r>
              <a:rPr sz="1300" b="1" dirty="0">
                <a:solidFill>
                  <a:srgbClr val="0B1F3B"/>
                </a:solidFill>
              </a:rPr>
              <a:t> da Siemens + GE a Philips.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649427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dirty="0">
                <a:solidFill>
                  <a:srgbClr val="FFFFFF"/>
                </a:solidFill>
              </a:rPr>
              <a:t>Università di Catania ·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2A5CAA"/>
                </a:solidFill>
              </a:rPr>
              <a:t>CONTESTO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B1F3B"/>
                </a:solidFill>
              </a:rPr>
              <a:t>Il problema è il domain shift tra scanner MRI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684"/>
                </a:solidFill>
              </a:rPr>
              <a:t>Lo stesso esame può apparire diverso a seconda del produttore e delle statistiche di acquisizione.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34202"/>
            <a:ext cx="10972800" cy="621792"/>
          </a:xfrm>
          <a:prstGeom prst="round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A5CAA"/>
                </a:solidFill>
              </a:rPr>
              <a:t>Un modello può imparare pattern dello scanner invece che pattern della malattia.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0405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B1F3B"/>
                </a:solidFill>
              </a:rPr>
              <a:t>Effetto dello scanner</a:t>
            </a:r>
          </a:p>
          <a:p>
            <a:pPr>
              <a:spcBef>
                <a:spcPts val="600"/>
              </a:spcBef>
            </a:pPr>
            <a:r>
              <a:rPr sz="1280">
                <a:solidFill>
                  <a:srgbClr val="283442"/>
                </a:solidFill>
              </a:rPr>
              <a:t>Cambiano contrasto, intensità e statistiche visive anche se il contenuto anatomico è simile.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00405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B1F3B"/>
                </a:solidFill>
              </a:rPr>
              <a:t>Conseguenza</a:t>
            </a:r>
          </a:p>
          <a:p>
            <a:pPr>
              <a:spcBef>
                <a:spcPts val="600"/>
              </a:spcBef>
            </a:pPr>
            <a:r>
              <a:rPr sz="1280">
                <a:solidFill>
                  <a:srgbClr val="283442"/>
                </a:solidFill>
              </a:rPr>
              <a:t>Un classificatore addestrato su un dominio può degradare quando viene testato su un produttore non visto.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004050"/>
            <a:ext cx="33375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B1F3B"/>
                </a:solidFill>
              </a:rPr>
              <a:t>Sfida</a:t>
            </a:r>
          </a:p>
          <a:p>
            <a:pPr>
              <a:spcBef>
                <a:spcPts val="600"/>
              </a:spcBef>
            </a:pPr>
            <a:r>
              <a:rPr sz="1280">
                <a:solidFill>
                  <a:srgbClr val="283442"/>
                </a:solidFill>
              </a:rPr>
              <a:t>Migliorare la generalizzazione cross-scanner senza perdere l’informazione diagnostica rilevante.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064240" cy="18288"/>
          </a:xfrm>
          <a:prstGeom prst="rect">
            <a:avLst/>
          </a:prstGeom>
          <a:solidFill>
            <a:srgbClr val="D1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651967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97684"/>
                </a:solidFill>
              </a:rPr>
              <a:t>Domain Adaptation on ADNI MRI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97684"/>
                </a:solidFill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2A5CAA"/>
                </a:solidFill>
              </a:rPr>
              <a:t>OBIETTIVO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B1F3B"/>
                </a:solidFill>
              </a:rPr>
              <a:t>Train su due produttori, test su un produttore mai visto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31596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684"/>
                </a:solidFill>
              </a:rPr>
              <a:t>Il task finale è la classificazione binaria CN vs 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58411" y="2095755"/>
            <a:ext cx="1097280" cy="310896"/>
          </a:xfrm>
          <a:prstGeom prst="round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A5CAA"/>
                </a:solidFill>
              </a:rPr>
              <a:t>TASK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551883"/>
            <a:ext cx="1097280" cy="310896"/>
          </a:xfrm>
          <a:prstGeom prst="round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2A5CAA"/>
                </a:solidFill>
              </a:rPr>
              <a:t>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512003"/>
            <a:ext cx="1097280" cy="310896"/>
          </a:xfrm>
          <a:prstGeom prst="round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2A5CAA"/>
                </a:solidFill>
              </a:rPr>
              <a:t>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5691" y="2068323"/>
            <a:ext cx="4267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283442"/>
                </a:solidFill>
              </a:rPr>
              <a:t>Classificazione</a:t>
            </a:r>
            <a:r>
              <a:rPr sz="1600" dirty="0">
                <a:solidFill>
                  <a:srgbClr val="283442"/>
                </a:solidFill>
              </a:rPr>
              <a:t> CN vs AD </a:t>
            </a:r>
            <a:r>
              <a:rPr sz="1600" dirty="0" err="1">
                <a:solidFill>
                  <a:srgbClr val="283442"/>
                </a:solidFill>
              </a:rPr>
              <a:t>su</a:t>
            </a:r>
            <a:r>
              <a:rPr sz="1600" dirty="0">
                <a:solidFill>
                  <a:srgbClr val="283442"/>
                </a:solidFill>
              </a:rPr>
              <a:t> MRI </a:t>
            </a:r>
            <a:r>
              <a:rPr sz="1600" dirty="0" err="1">
                <a:solidFill>
                  <a:srgbClr val="283442"/>
                </a:solidFill>
              </a:rPr>
              <a:t>strutturali</a:t>
            </a:r>
            <a:r>
              <a:rPr sz="1600" dirty="0">
                <a:solidFill>
                  <a:srgbClr val="283442"/>
                </a:solidFill>
              </a:rPr>
              <a:t> ADNI.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547423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283442"/>
                </a:solidFill>
              </a:rPr>
              <a:t>SIEMENS + GE Medical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450181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283442"/>
                </a:solidFill>
              </a:rPr>
              <a:t>PHILIPS Medical Systems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3017029"/>
            <a:ext cx="5577840" cy="2423160"/>
          </a:xfrm>
          <a:prstGeom prst="round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C4D6F4"/>
                </a:solidFill>
              </a:rPr>
              <a:t>Research question</a:t>
            </a:r>
          </a:p>
          <a:p>
            <a:pPr algn="ctr">
              <a:spcBef>
                <a:spcPts val="1000"/>
              </a:spcBef>
            </a:pPr>
            <a:r>
              <a:rPr sz="2400" b="1" dirty="0">
                <a:solidFill>
                  <a:srgbClr val="FFFFFF"/>
                </a:solidFill>
              </a:rPr>
              <a:t>Quale </a:t>
            </a:r>
            <a:r>
              <a:rPr sz="2400" b="1" dirty="0" err="1">
                <a:solidFill>
                  <a:srgbClr val="FFFFFF"/>
                </a:solidFill>
              </a:rPr>
              <a:t>strategia</a:t>
            </a:r>
            <a:r>
              <a:rPr sz="2400" b="1" dirty="0">
                <a:solidFill>
                  <a:srgbClr val="FFFFFF"/>
                </a:solidFill>
              </a:rPr>
              <a:t> di augmentation </a:t>
            </a:r>
            <a:r>
              <a:rPr sz="2400" b="1" dirty="0" err="1">
                <a:solidFill>
                  <a:srgbClr val="FFFFFF"/>
                </a:solidFill>
              </a:rPr>
              <a:t>generalizza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meglio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su</a:t>
            </a:r>
            <a:r>
              <a:rPr sz="2400" b="1" dirty="0">
                <a:solidFill>
                  <a:srgbClr val="FFFFFF"/>
                </a:solidFill>
              </a:rPr>
              <a:t> Philips:
</a:t>
            </a:r>
            <a:r>
              <a:rPr sz="2400" b="1" dirty="0" err="1">
                <a:solidFill>
                  <a:srgbClr val="FFFFFF"/>
                </a:solidFill>
              </a:rPr>
              <a:t>CycleGAN</a:t>
            </a:r>
            <a:r>
              <a:rPr sz="2400" b="1" dirty="0">
                <a:solidFill>
                  <a:srgbClr val="FFFFFF"/>
                </a:solidFill>
              </a:rPr>
              <a:t>, VAE </a:t>
            </a:r>
            <a:r>
              <a:rPr sz="2400" b="1" dirty="0" err="1">
                <a:solidFill>
                  <a:srgbClr val="FFFFFF"/>
                </a:solidFill>
              </a:rPr>
              <a:t>residuale</a:t>
            </a:r>
            <a:r>
              <a:rPr sz="2400" b="1" dirty="0">
                <a:solidFill>
                  <a:srgbClr val="FFFFFF"/>
                </a:solidFill>
              </a:rPr>
              <a:t> o </a:t>
            </a:r>
            <a:r>
              <a:rPr sz="2400" b="1" dirty="0" err="1">
                <a:solidFill>
                  <a:srgbClr val="FFFFFF"/>
                </a:solidFill>
              </a:rPr>
              <a:t>AdaIN</a:t>
            </a:r>
            <a:r>
              <a:rPr sz="24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064240" cy="18288"/>
          </a:xfrm>
          <a:prstGeom prst="rect">
            <a:avLst/>
          </a:prstGeom>
          <a:solidFill>
            <a:srgbClr val="D1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651967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97684"/>
                </a:solidFill>
              </a:rPr>
              <a:t>Domain Adaptation on ADNI MRI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97684"/>
                </a:solidFill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2A5CAA"/>
                </a:solidFill>
              </a:rPr>
              <a:t>DATI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B1F3B"/>
                </a:solidFill>
              </a:rPr>
              <a:t>Dataset piccolo e split patient-level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684"/>
                </a:solidFill>
              </a:rPr>
              <a:t>Lo split a livello paziente evita leakage tra training e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174777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83442"/>
                </a:solidFill>
              </a:defRPr>
            </a:pPr>
            <a:r>
              <a:rPr dirty="0"/>
              <a:t>173 </a:t>
            </a:r>
            <a:r>
              <a:rPr dirty="0" err="1"/>
              <a:t>volumi</a:t>
            </a:r>
            <a:r>
              <a:rPr dirty="0"/>
              <a:t> MRI dopo il preprocessing</a:t>
            </a:r>
          </a:p>
          <a:p>
            <a:pPr>
              <a:spcAft>
                <a:spcPts val="600"/>
              </a:spcAft>
              <a:defRPr sz="1600">
                <a:solidFill>
                  <a:srgbClr val="283442"/>
                </a:solidFill>
              </a:defRPr>
            </a:pPr>
            <a:r>
              <a:rPr dirty="0"/>
              <a:t>52 </a:t>
            </a:r>
            <a:r>
              <a:rPr dirty="0" err="1"/>
              <a:t>soggetti</a:t>
            </a:r>
            <a:r>
              <a:rPr dirty="0"/>
              <a:t> </a:t>
            </a:r>
            <a:r>
              <a:rPr dirty="0" err="1"/>
              <a:t>totali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283442"/>
                </a:solidFill>
              </a:defRPr>
            </a:pPr>
            <a:r>
              <a:rPr dirty="0"/>
              <a:t>Classi </a:t>
            </a:r>
            <a:r>
              <a:rPr dirty="0" err="1"/>
              <a:t>diagnostiche</a:t>
            </a:r>
            <a:r>
              <a:rPr dirty="0"/>
              <a:t>: </a:t>
            </a:r>
            <a:endParaRPr lang="it-IT" dirty="0"/>
          </a:p>
          <a:p>
            <a:pPr marL="285750" indent="-285750">
              <a:spcAft>
                <a:spcPts val="600"/>
              </a:spcAft>
              <a:buFontTx/>
              <a:buChar char="-"/>
              <a:defRPr sz="1600">
                <a:solidFill>
                  <a:srgbClr val="283442"/>
                </a:solidFill>
              </a:defRPr>
            </a:pPr>
            <a:r>
              <a:rPr dirty="0"/>
              <a:t>CN </a:t>
            </a:r>
            <a:endParaRPr lang="it-IT" dirty="0"/>
          </a:p>
          <a:p>
            <a:pPr marL="285750" indent="-285750">
              <a:spcAft>
                <a:spcPts val="600"/>
              </a:spcAft>
              <a:buFontTx/>
              <a:buChar char="-"/>
              <a:defRPr sz="1600">
                <a:solidFill>
                  <a:srgbClr val="283442"/>
                </a:solidFill>
              </a:defRPr>
            </a:pPr>
            <a:r>
              <a:rPr dirty="0"/>
              <a:t>AD</a:t>
            </a:r>
            <a:endParaRPr lang="it-IT" dirty="0"/>
          </a:p>
          <a:p>
            <a:pPr>
              <a:spcAft>
                <a:spcPts val="600"/>
              </a:spcAft>
              <a:defRPr sz="1600">
                <a:solidFill>
                  <a:srgbClr val="283442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283442"/>
                </a:solidFill>
              </a:defRPr>
            </a:pPr>
            <a:r>
              <a:rPr dirty="0" err="1"/>
              <a:t>Produttori</a:t>
            </a:r>
            <a:r>
              <a:rPr dirty="0"/>
              <a:t> </a:t>
            </a:r>
            <a:r>
              <a:rPr dirty="0" err="1"/>
              <a:t>considerati</a:t>
            </a:r>
            <a:r>
              <a:rPr dirty="0"/>
              <a:t>: </a:t>
            </a:r>
            <a:endParaRPr lang="it-IT" dirty="0"/>
          </a:p>
          <a:p>
            <a:pPr marL="285750" indent="-285750">
              <a:spcAft>
                <a:spcPts val="600"/>
              </a:spcAft>
              <a:buFontTx/>
              <a:buChar char="-"/>
              <a:defRPr sz="1600">
                <a:solidFill>
                  <a:srgbClr val="283442"/>
                </a:solidFill>
              </a:defRPr>
            </a:pPr>
            <a:r>
              <a:rPr dirty="0"/>
              <a:t>Siemens</a:t>
            </a:r>
            <a:endParaRPr lang="it-IT" dirty="0"/>
          </a:p>
          <a:p>
            <a:pPr marL="285750" indent="-285750">
              <a:spcAft>
                <a:spcPts val="600"/>
              </a:spcAft>
              <a:buFontTx/>
              <a:buChar char="-"/>
              <a:defRPr sz="1600">
                <a:solidFill>
                  <a:srgbClr val="283442"/>
                </a:solidFill>
              </a:defRPr>
            </a:pPr>
            <a:r>
              <a:rPr dirty="0"/>
              <a:t>GE Medical Systems </a:t>
            </a:r>
            <a:endParaRPr lang="it-IT" dirty="0"/>
          </a:p>
          <a:p>
            <a:pPr marL="285750" indent="-285750">
              <a:spcAft>
                <a:spcPts val="600"/>
              </a:spcAft>
              <a:buFontTx/>
              <a:buChar char="-"/>
              <a:defRPr sz="1600">
                <a:solidFill>
                  <a:srgbClr val="283442"/>
                </a:solidFill>
              </a:defRPr>
            </a:pPr>
            <a:r>
              <a:rPr dirty="0"/>
              <a:t>Philips Medical Systems</a:t>
            </a:r>
          </a:p>
          <a:p>
            <a:pPr>
              <a:spcAft>
                <a:spcPts val="600"/>
              </a:spcAft>
              <a:defRPr sz="1600">
                <a:solidFill>
                  <a:srgbClr val="283442"/>
                </a:solidFill>
              </a:defRPr>
            </a:pPr>
            <a:r>
              <a:rPr dirty="0"/>
              <a:t>Il dataset è </a:t>
            </a:r>
            <a:r>
              <a:rPr dirty="0" err="1"/>
              <a:t>sbilanciato</a:t>
            </a:r>
            <a:r>
              <a:rPr dirty="0"/>
              <a:t> verso la </a:t>
            </a:r>
            <a:r>
              <a:rPr dirty="0" err="1"/>
              <a:t>classe</a:t>
            </a:r>
            <a:r>
              <a:rPr dirty="0"/>
              <a:t> healthy: per </a:t>
            </a:r>
            <a:r>
              <a:rPr dirty="0" err="1"/>
              <a:t>questo</a:t>
            </a:r>
            <a:r>
              <a:rPr dirty="0"/>
              <a:t> </a:t>
            </a:r>
            <a:r>
              <a:rPr dirty="0" err="1"/>
              <a:t>usiamo</a:t>
            </a:r>
            <a:r>
              <a:rPr dirty="0"/>
              <a:t> </a:t>
            </a:r>
            <a:r>
              <a:rPr dirty="0" err="1"/>
              <a:t>anche</a:t>
            </a:r>
            <a:r>
              <a:rPr dirty="0"/>
              <a:t> la macro-F1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244380"/>
              </p:ext>
            </p:extLst>
          </p:nvPr>
        </p:nvGraphicFramePr>
        <p:xfrm>
          <a:off x="5083277" y="1600200"/>
          <a:ext cx="6377202" cy="3136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8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57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7277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Split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Scansioni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Soggetti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Dominio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277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Source 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Siemens + 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277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Source val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Siemens + GE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277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Target adapt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28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Target test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283442"/>
                          </a:solidFill>
                        </a:rPr>
                        <a:t>Philips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559552" y="5088635"/>
            <a:ext cx="5120640" cy="1051560"/>
          </a:xfrm>
          <a:prstGeom prst="roundRect">
            <a:avLst/>
          </a:prstGeom>
          <a:solidFill>
            <a:srgbClr val="F2F7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0B1F3B"/>
                </a:solidFill>
              </a:rPr>
              <a:t>Da </a:t>
            </a:r>
            <a:r>
              <a:rPr sz="1500" b="1" dirty="0" err="1">
                <a:solidFill>
                  <a:srgbClr val="0B1F3B"/>
                </a:solidFill>
              </a:rPr>
              <a:t>ricordare</a:t>
            </a:r>
            <a:endParaRPr sz="1500" b="1" dirty="0">
              <a:solidFill>
                <a:srgbClr val="0B1F3B"/>
              </a:solidFill>
            </a:endParaRPr>
          </a:p>
          <a:p>
            <a:pPr>
              <a:spcBef>
                <a:spcPts val="600"/>
              </a:spcBef>
            </a:pPr>
            <a:r>
              <a:rPr sz="1280" dirty="0">
                <a:solidFill>
                  <a:srgbClr val="283442"/>
                </a:solidFill>
              </a:rPr>
              <a:t>Il target adaptation set è </a:t>
            </a:r>
            <a:r>
              <a:rPr sz="1280" dirty="0" err="1">
                <a:solidFill>
                  <a:srgbClr val="283442"/>
                </a:solidFill>
              </a:rPr>
              <a:t>separato</a:t>
            </a:r>
            <a:r>
              <a:rPr sz="1280" dirty="0">
                <a:solidFill>
                  <a:srgbClr val="283442"/>
                </a:solidFill>
              </a:rPr>
              <a:t> dal target test e </a:t>
            </a:r>
            <a:r>
              <a:rPr sz="1280" dirty="0" err="1">
                <a:solidFill>
                  <a:srgbClr val="283442"/>
                </a:solidFill>
              </a:rPr>
              <a:t>viene</a:t>
            </a:r>
            <a:r>
              <a:rPr sz="1280" dirty="0">
                <a:solidFill>
                  <a:srgbClr val="283442"/>
                </a:solidFill>
              </a:rPr>
              <a:t> </a:t>
            </a:r>
            <a:r>
              <a:rPr sz="1280" dirty="0" err="1">
                <a:solidFill>
                  <a:srgbClr val="283442"/>
                </a:solidFill>
              </a:rPr>
              <a:t>usato</a:t>
            </a:r>
            <a:r>
              <a:rPr sz="1280" dirty="0">
                <a:solidFill>
                  <a:srgbClr val="283442"/>
                </a:solidFill>
              </a:rPr>
              <a:t> come </a:t>
            </a:r>
            <a:r>
              <a:rPr sz="1280" dirty="0" err="1">
                <a:solidFill>
                  <a:srgbClr val="283442"/>
                </a:solidFill>
              </a:rPr>
              <a:t>dominio</a:t>
            </a:r>
            <a:r>
              <a:rPr sz="1280" dirty="0">
                <a:solidFill>
                  <a:srgbClr val="283442"/>
                </a:solidFill>
              </a:rPr>
              <a:t> target non </a:t>
            </a:r>
            <a:r>
              <a:rPr sz="1280" dirty="0" err="1">
                <a:solidFill>
                  <a:srgbClr val="283442"/>
                </a:solidFill>
              </a:rPr>
              <a:t>etichettato</a:t>
            </a:r>
            <a:r>
              <a:rPr sz="1280" dirty="0">
                <a:solidFill>
                  <a:srgbClr val="283442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064240" cy="18288"/>
          </a:xfrm>
          <a:prstGeom prst="rect">
            <a:avLst/>
          </a:prstGeom>
          <a:solidFill>
            <a:srgbClr val="D1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651967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97684"/>
                </a:solidFill>
              </a:rPr>
              <a:t>Domain Adaptation on ADNI MRI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97684"/>
                </a:solidFill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2A5CAA"/>
                </a:solidFill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B1F3B"/>
                </a:solidFill>
              </a:rPr>
              <a:t>Una pipeline end-to-end, modulare e riproducibile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684"/>
                </a:solidFill>
              </a:rPr>
              <a:t>Dal preprocessing dei volumi al confronto finale tra modelli.</a:t>
            </a:r>
          </a:p>
        </p:txBody>
      </p:sp>
      <p:sp>
        <p:nvSpPr>
          <p:cNvPr id="6" name="Oval 5"/>
          <p:cNvSpPr/>
          <p:nvPr/>
        </p:nvSpPr>
        <p:spPr>
          <a:xfrm>
            <a:off x="1578102" y="2423160"/>
            <a:ext cx="384048" cy="384048"/>
          </a:xfrm>
          <a:prstGeom prst="ellipse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2150" y="2577034"/>
            <a:ext cx="1828800" cy="36576"/>
          </a:xfrm>
          <a:prstGeom prst="rect">
            <a:avLst/>
          </a:prstGeom>
          <a:solidFill>
            <a:srgbClr val="D1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2926080"/>
            <a:ext cx="1965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B1F3B"/>
                </a:solidFill>
              </a:rPr>
              <a:t>1. Preprocessing</a:t>
            </a:r>
          </a:p>
          <a:p>
            <a:pPr>
              <a:spcBef>
                <a:spcPts val="600"/>
              </a:spcBef>
            </a:pPr>
            <a:r>
              <a:rPr sz="1280">
                <a:solidFill>
                  <a:srgbClr val="283442"/>
                </a:solidFill>
              </a:rPr>
              <a:t>Filtro T1, 3T, CN vs AD
Normalizzazione e salvataggio .npy</a:t>
            </a:r>
          </a:p>
        </p:txBody>
      </p:sp>
      <p:sp>
        <p:nvSpPr>
          <p:cNvPr id="9" name="Oval 8"/>
          <p:cNvSpPr/>
          <p:nvPr/>
        </p:nvSpPr>
        <p:spPr>
          <a:xfrm>
            <a:off x="3808476" y="2430287"/>
            <a:ext cx="384048" cy="384048"/>
          </a:xfrm>
          <a:prstGeom prst="ellipse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5864" y="2578607"/>
            <a:ext cx="1828800" cy="36576"/>
          </a:xfrm>
          <a:prstGeom prst="rect">
            <a:avLst/>
          </a:prstGeom>
          <a:solidFill>
            <a:srgbClr val="D1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17520" y="2926080"/>
            <a:ext cx="1965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B1F3B"/>
                </a:solidFill>
              </a:rPr>
              <a:t>2. Split domini</a:t>
            </a:r>
          </a:p>
          <a:p>
            <a:pPr>
              <a:spcBef>
                <a:spcPts val="600"/>
              </a:spcBef>
            </a:pPr>
            <a:r>
              <a:rPr sz="1280">
                <a:solidFill>
                  <a:srgbClr val="283442"/>
                </a:solidFill>
              </a:rPr>
              <a:t>Source: Siemens + GE
Target: Philips</a:t>
            </a:r>
          </a:p>
        </p:txBody>
      </p:sp>
      <p:sp>
        <p:nvSpPr>
          <p:cNvPr id="12" name="Oval 11"/>
          <p:cNvSpPr/>
          <p:nvPr/>
        </p:nvSpPr>
        <p:spPr>
          <a:xfrm>
            <a:off x="6057900" y="2423160"/>
            <a:ext cx="384048" cy="384048"/>
          </a:xfrm>
          <a:prstGeom prst="ellipse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8712" y="2569464"/>
            <a:ext cx="1828800" cy="36576"/>
          </a:xfrm>
          <a:prstGeom prst="rect">
            <a:avLst/>
          </a:prstGeom>
          <a:solidFill>
            <a:srgbClr val="D1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257800" y="2926080"/>
            <a:ext cx="1965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B1F3B"/>
                </a:solidFill>
              </a:rPr>
              <a:t>3. Augmentation</a:t>
            </a:r>
          </a:p>
          <a:p>
            <a:pPr>
              <a:spcBef>
                <a:spcPts val="600"/>
              </a:spcBef>
            </a:pPr>
            <a:r>
              <a:rPr sz="1280">
                <a:solidFill>
                  <a:srgbClr val="283442"/>
                </a:solidFill>
              </a:rPr>
              <a:t>CycleGAN
VAE residuale
AdaIN</a:t>
            </a:r>
          </a:p>
        </p:txBody>
      </p:sp>
      <p:sp>
        <p:nvSpPr>
          <p:cNvPr id="15" name="Oval 14"/>
          <p:cNvSpPr/>
          <p:nvPr/>
        </p:nvSpPr>
        <p:spPr>
          <a:xfrm>
            <a:off x="8314944" y="2395728"/>
            <a:ext cx="384048" cy="384048"/>
          </a:xfrm>
          <a:prstGeom prst="ellipse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98992" y="2596895"/>
            <a:ext cx="1856232" cy="45719"/>
          </a:xfrm>
          <a:prstGeom prst="rect">
            <a:avLst/>
          </a:prstGeom>
          <a:solidFill>
            <a:srgbClr val="D1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98080" y="2926080"/>
            <a:ext cx="1965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B1F3B"/>
                </a:solidFill>
              </a:rPr>
              <a:t>4. Training</a:t>
            </a:r>
          </a:p>
          <a:p>
            <a:pPr>
              <a:spcBef>
                <a:spcPts val="600"/>
              </a:spcBef>
            </a:pPr>
            <a:r>
              <a:rPr sz="1280">
                <a:solidFill>
                  <a:srgbClr val="283442"/>
                </a:solidFill>
              </a:rPr>
              <a:t>CNN source-only e modelli aumentati</a:t>
            </a:r>
          </a:p>
        </p:txBody>
      </p:sp>
      <p:sp>
        <p:nvSpPr>
          <p:cNvPr id="18" name="Oval 17"/>
          <p:cNvSpPr/>
          <p:nvPr/>
        </p:nvSpPr>
        <p:spPr>
          <a:xfrm>
            <a:off x="10555224" y="2441448"/>
            <a:ext cx="384048" cy="384048"/>
          </a:xfrm>
          <a:prstGeom prst="ellipse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2926080"/>
            <a:ext cx="1965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B1F3B"/>
                </a:solidFill>
              </a:rPr>
              <a:t>5. Evaluation</a:t>
            </a:r>
          </a:p>
          <a:p>
            <a:pPr>
              <a:spcBef>
                <a:spcPts val="600"/>
              </a:spcBef>
            </a:pPr>
            <a:r>
              <a:rPr sz="1280">
                <a:solidFill>
                  <a:srgbClr val="283442"/>
                </a:solidFill>
              </a:rPr>
              <a:t>Accuracy e macro-F1
sul target test Philips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5074920"/>
            <a:ext cx="5074920" cy="822960"/>
          </a:xfrm>
          <a:prstGeom prst="roundRect">
            <a:avLst/>
          </a:prstGeom>
          <a:solidFill>
            <a:srgbClr val="F2F7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B1F3B"/>
                </a:solidFill>
              </a:rPr>
              <a:t>Repository</a:t>
            </a:r>
          </a:p>
          <a:p>
            <a:pPr>
              <a:spcBef>
                <a:spcPts val="600"/>
              </a:spcBef>
            </a:pPr>
            <a:r>
              <a:rPr sz="1280">
                <a:solidFill>
                  <a:srgbClr val="283442"/>
                </a:solidFill>
              </a:rPr>
              <a:t>La struttura del progetto separa chiaramente dataset, modelli, training, valutazione e artefatti sperimentali.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0528"/>
            <a:ext cx="11064240" cy="18288"/>
          </a:xfrm>
          <a:prstGeom prst="rect">
            <a:avLst/>
          </a:prstGeom>
          <a:solidFill>
            <a:srgbClr val="D1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651967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97684"/>
                </a:solidFill>
              </a:rPr>
              <a:t>Domain Adaptation on ADNI MRI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97684"/>
                </a:solidFill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2A5CAA"/>
                </a:solidFill>
              </a:rPr>
              <a:t>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B1F3B"/>
                </a:solidFill>
              </a:rPr>
              <a:t>Il punto di partenza è una CNN source-only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684"/>
                </a:solidFill>
              </a:rPr>
              <a:t>Una baseline semplice serve a capire se la domain adaptation aggiunge davvero valore.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508760" cy="777240"/>
          </a:xfrm>
          <a:prstGeom prst="roundRect">
            <a:avLst/>
          </a:prstGeom>
          <a:solidFill>
            <a:srgbClr val="F2F7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it-IT" sz="1500" b="1" dirty="0">
              <a:solidFill>
                <a:srgbClr val="0B1F3B"/>
              </a:solidFill>
            </a:endParaRPr>
          </a:p>
          <a:p>
            <a:pPr algn="ctr"/>
            <a:r>
              <a:rPr sz="1500" b="1" dirty="0">
                <a:solidFill>
                  <a:srgbClr val="0B1F3B"/>
                </a:solidFill>
              </a:rPr>
              <a:t>Volume MRI</a:t>
            </a:r>
          </a:p>
          <a:p>
            <a:pPr>
              <a:spcBef>
                <a:spcPts val="600"/>
              </a:spcBef>
            </a:pPr>
            <a:endParaRPr sz="1500" b="1" dirty="0">
              <a:solidFill>
                <a:srgbClr val="0B1F3B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834640" y="2148840"/>
            <a:ext cx="1508760" cy="777240"/>
          </a:xfrm>
          <a:prstGeom prst="roundRect">
            <a:avLst/>
          </a:prstGeom>
          <a:solidFill>
            <a:srgbClr val="F2F7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it-IT" sz="1500" b="1" dirty="0">
              <a:solidFill>
                <a:srgbClr val="0B1F3B"/>
              </a:solidFill>
            </a:endParaRPr>
          </a:p>
          <a:p>
            <a:pPr algn="ctr"/>
            <a:r>
              <a:rPr sz="1500" b="1" dirty="0">
                <a:solidFill>
                  <a:srgbClr val="0B1F3B"/>
                </a:solidFill>
              </a:rPr>
              <a:t>Slice centrale</a:t>
            </a:r>
          </a:p>
          <a:p>
            <a:pPr>
              <a:spcBef>
                <a:spcPts val="600"/>
              </a:spcBef>
            </a:pPr>
            <a:endParaRPr sz="1500" b="1" dirty="0">
              <a:solidFill>
                <a:srgbClr val="0B1F3B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937760" y="2148840"/>
            <a:ext cx="1508760" cy="777240"/>
          </a:xfrm>
          <a:prstGeom prst="roundRect">
            <a:avLst/>
          </a:prstGeom>
          <a:solidFill>
            <a:srgbClr val="F2F7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it-IT" sz="1500" b="1" dirty="0">
              <a:solidFill>
                <a:srgbClr val="0B1F3B"/>
              </a:solidFill>
            </a:endParaRPr>
          </a:p>
          <a:p>
            <a:pPr algn="ctr"/>
            <a:r>
              <a:rPr sz="1500" b="1" dirty="0">
                <a:solidFill>
                  <a:srgbClr val="0B1F3B"/>
                </a:solidFill>
              </a:rPr>
              <a:t>CNN</a:t>
            </a:r>
          </a:p>
          <a:p>
            <a:pPr>
              <a:spcBef>
                <a:spcPts val="600"/>
              </a:spcBef>
            </a:pPr>
            <a:endParaRPr sz="1500" b="1" dirty="0">
              <a:solidFill>
                <a:srgbClr val="0B1F3B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903720" y="2148840"/>
            <a:ext cx="1508760" cy="777240"/>
          </a:xfrm>
          <a:prstGeom prst="roundRect">
            <a:avLst/>
          </a:prstGeom>
          <a:solidFill>
            <a:srgbClr val="F2F7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it-IT" sz="1500" b="1" dirty="0">
              <a:solidFill>
                <a:srgbClr val="0B1F3B"/>
              </a:solidFill>
            </a:endParaRPr>
          </a:p>
          <a:p>
            <a:pPr algn="ctr"/>
            <a:r>
              <a:rPr sz="1500" b="1" dirty="0">
                <a:solidFill>
                  <a:srgbClr val="0B1F3B"/>
                </a:solidFill>
              </a:rPr>
              <a:t>CN / AD</a:t>
            </a:r>
          </a:p>
          <a:p>
            <a:pPr>
              <a:spcBef>
                <a:spcPts val="600"/>
              </a:spcBef>
            </a:pPr>
            <a:endParaRPr sz="1500" b="1" dirty="0">
              <a:solidFill>
                <a:srgbClr val="0B1F3B"/>
              </a:solidFill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2395728" y="2395728"/>
            <a:ext cx="292608" cy="310896"/>
          </a:xfrm>
          <a:prstGeom prst="chevron">
            <a:avLst/>
          </a:prstGeom>
          <a:solidFill>
            <a:srgbClr val="669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hevron 10"/>
          <p:cNvSpPr/>
          <p:nvPr/>
        </p:nvSpPr>
        <p:spPr>
          <a:xfrm>
            <a:off x="4526280" y="2395728"/>
            <a:ext cx="292608" cy="310896"/>
          </a:xfrm>
          <a:prstGeom prst="chevron">
            <a:avLst/>
          </a:prstGeom>
          <a:solidFill>
            <a:srgbClr val="669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hevron 11"/>
          <p:cNvSpPr/>
          <p:nvPr/>
        </p:nvSpPr>
        <p:spPr>
          <a:xfrm>
            <a:off x="6492240" y="2395728"/>
            <a:ext cx="292608" cy="310896"/>
          </a:xfrm>
          <a:prstGeom prst="chevron">
            <a:avLst/>
          </a:prstGeom>
          <a:solidFill>
            <a:srgbClr val="669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7452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83442"/>
                </a:solidFill>
              </a:defRPr>
            </a:pPr>
            <a:r>
              <a:t>Tre blocchi convoluzionali con BatchNorm, ReLU e pooling</a:t>
            </a:r>
          </a:p>
          <a:p>
            <a:pPr>
              <a:spcAft>
                <a:spcPts val="600"/>
              </a:spcAft>
              <a:defRPr sz="1600">
                <a:solidFill>
                  <a:srgbClr val="283442"/>
                </a:solidFill>
              </a:defRPr>
            </a:pPr>
            <a:r>
              <a:t>Adaptive average pooling, fully connected layer e dropout</a:t>
            </a:r>
          </a:p>
          <a:p>
            <a:pPr>
              <a:spcAft>
                <a:spcPts val="600"/>
              </a:spcAft>
              <a:defRPr sz="1600">
                <a:solidFill>
                  <a:srgbClr val="283442"/>
                </a:solidFill>
              </a:defRPr>
            </a:pPr>
            <a:r>
              <a:t>Scelta leggera e praticabile, ma con il limite di usare una sola slice 2D centrale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1933956"/>
            <a:ext cx="29718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B1F3B"/>
                </a:solidFill>
              </a:rPr>
              <a:t>Perché è importante?</a:t>
            </a:r>
          </a:p>
          <a:p>
            <a:pPr>
              <a:spcBef>
                <a:spcPts val="600"/>
              </a:spcBef>
            </a:pPr>
            <a:r>
              <a:rPr sz="1280">
                <a:solidFill>
                  <a:srgbClr val="283442"/>
                </a:solidFill>
              </a:rPr>
              <a:t>La baseline è il controllo sperimentale: ogni tecnica di augmentation deve essere confrontata con questo modello.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10528"/>
            <a:ext cx="11064240" cy="18288"/>
          </a:xfrm>
          <a:prstGeom prst="rect">
            <a:avLst/>
          </a:prstGeom>
          <a:solidFill>
            <a:srgbClr val="D1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651967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97684"/>
                </a:solidFill>
              </a:rPr>
              <a:t>Domain Adaptation on ADNI MRI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97684"/>
                </a:solidFill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2A5CAA"/>
                </a:solidFill>
              </a:rPr>
              <a:t>METODO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B1F3B"/>
                </a:solidFill>
              </a:rPr>
              <a:t>Tre strategie di domain 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684"/>
                </a:solidFill>
              </a:rPr>
              <a:t>Le tre idee sono complementari: traduzione image-to-image, firma latente dello scanner e trasferimento di stile nelle feature.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2461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sz="2000" dirty="0">
                <a:solidFill>
                  <a:srgbClr val="283442"/>
                </a:solidFill>
              </a:rPr>
              <a:t>Traduce </a:t>
            </a:r>
            <a:r>
              <a:rPr sz="2000" dirty="0" err="1">
                <a:solidFill>
                  <a:srgbClr val="283442"/>
                </a:solidFill>
              </a:rPr>
              <a:t>immagini</a:t>
            </a:r>
            <a:r>
              <a:rPr sz="2000" dirty="0">
                <a:solidFill>
                  <a:srgbClr val="283442"/>
                </a:solidFill>
              </a:rPr>
              <a:t> source verso uno stile simile a Philips </a:t>
            </a:r>
            <a:r>
              <a:rPr sz="2000" dirty="0" err="1">
                <a:solidFill>
                  <a:srgbClr val="283442"/>
                </a:solidFill>
              </a:rPr>
              <a:t>usando</a:t>
            </a:r>
            <a:r>
              <a:rPr sz="2000" dirty="0">
                <a:solidFill>
                  <a:srgbClr val="283442"/>
                </a:solidFill>
              </a:rPr>
              <a:t> </a:t>
            </a:r>
            <a:r>
              <a:rPr sz="2000" dirty="0" err="1">
                <a:solidFill>
                  <a:srgbClr val="283442"/>
                </a:solidFill>
              </a:rPr>
              <a:t>immagini</a:t>
            </a:r>
            <a:r>
              <a:rPr sz="2000" dirty="0">
                <a:solidFill>
                  <a:srgbClr val="283442"/>
                </a:solidFill>
              </a:rPr>
              <a:t> non </a:t>
            </a:r>
            <a:r>
              <a:rPr sz="2000" dirty="0" err="1">
                <a:solidFill>
                  <a:srgbClr val="283442"/>
                </a:solidFill>
              </a:rPr>
              <a:t>appaiate</a:t>
            </a:r>
            <a:r>
              <a:rPr sz="2000" dirty="0">
                <a:solidFill>
                  <a:srgbClr val="283442"/>
                </a:solidFill>
              </a:rPr>
              <a:t>. È </a:t>
            </a:r>
            <a:r>
              <a:rPr sz="2000" dirty="0" err="1">
                <a:solidFill>
                  <a:srgbClr val="283442"/>
                </a:solidFill>
              </a:rPr>
              <a:t>potente</a:t>
            </a:r>
            <a:r>
              <a:rPr sz="2000" dirty="0">
                <a:solidFill>
                  <a:srgbClr val="283442"/>
                </a:solidFill>
              </a:rPr>
              <a:t> ma </a:t>
            </a:r>
            <a:r>
              <a:rPr sz="2000" dirty="0" err="1">
                <a:solidFill>
                  <a:srgbClr val="283442"/>
                </a:solidFill>
              </a:rPr>
              <a:t>può</a:t>
            </a:r>
            <a:r>
              <a:rPr sz="2000" dirty="0">
                <a:solidFill>
                  <a:srgbClr val="283442"/>
                </a:solidFill>
              </a:rPr>
              <a:t> </a:t>
            </a:r>
            <a:r>
              <a:rPr sz="2000" dirty="0" err="1">
                <a:solidFill>
                  <a:srgbClr val="283442"/>
                </a:solidFill>
              </a:rPr>
              <a:t>alterare</a:t>
            </a:r>
            <a:r>
              <a:rPr sz="2000" dirty="0">
                <a:solidFill>
                  <a:srgbClr val="283442"/>
                </a:solidFill>
              </a:rPr>
              <a:t> </a:t>
            </a:r>
            <a:r>
              <a:rPr sz="2000" dirty="0" err="1">
                <a:solidFill>
                  <a:srgbClr val="283442"/>
                </a:solidFill>
              </a:rPr>
              <a:t>dettagli</a:t>
            </a:r>
            <a:r>
              <a:rPr sz="2000" dirty="0">
                <a:solidFill>
                  <a:srgbClr val="283442"/>
                </a:solidFill>
              </a:rPr>
              <a:t> </a:t>
            </a:r>
            <a:r>
              <a:rPr sz="2000" dirty="0" err="1">
                <a:solidFill>
                  <a:srgbClr val="283442"/>
                </a:solidFill>
              </a:rPr>
              <a:t>utili</a:t>
            </a:r>
            <a:r>
              <a:rPr sz="2000" dirty="0">
                <a:solidFill>
                  <a:srgbClr val="283442"/>
                </a:solidFill>
              </a:rPr>
              <a:t> alla </a:t>
            </a:r>
            <a:r>
              <a:rPr sz="2000" dirty="0" err="1">
                <a:solidFill>
                  <a:srgbClr val="283442"/>
                </a:solidFill>
              </a:rPr>
              <a:t>classificazione</a:t>
            </a:r>
            <a:r>
              <a:rPr sz="2000" dirty="0">
                <a:solidFill>
                  <a:srgbClr val="283442"/>
                </a:solidFill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2148840"/>
            <a:ext cx="32461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sz="2000" dirty="0" err="1">
                <a:solidFill>
                  <a:srgbClr val="283442"/>
                </a:solidFill>
              </a:rPr>
              <a:t>Proietta</a:t>
            </a:r>
            <a:r>
              <a:rPr sz="2000" dirty="0">
                <a:solidFill>
                  <a:srgbClr val="283442"/>
                </a:solidFill>
              </a:rPr>
              <a:t> le slice in uno </a:t>
            </a:r>
            <a:r>
              <a:rPr sz="2000" dirty="0" err="1">
                <a:solidFill>
                  <a:srgbClr val="283442"/>
                </a:solidFill>
              </a:rPr>
              <a:t>spazio</a:t>
            </a:r>
            <a:r>
              <a:rPr sz="2000" dirty="0">
                <a:solidFill>
                  <a:srgbClr val="283442"/>
                </a:solidFill>
              </a:rPr>
              <a:t> </a:t>
            </a:r>
            <a:r>
              <a:rPr sz="2000" dirty="0" err="1">
                <a:solidFill>
                  <a:srgbClr val="283442"/>
                </a:solidFill>
              </a:rPr>
              <a:t>latente</a:t>
            </a:r>
            <a:r>
              <a:rPr sz="2000" dirty="0">
                <a:solidFill>
                  <a:srgbClr val="283442"/>
                </a:solidFill>
              </a:rPr>
              <a:t> e </a:t>
            </a:r>
            <a:r>
              <a:rPr sz="2000" dirty="0" err="1">
                <a:solidFill>
                  <a:srgbClr val="283442"/>
                </a:solidFill>
              </a:rPr>
              <a:t>stima</a:t>
            </a:r>
            <a:r>
              <a:rPr sz="2000" dirty="0">
                <a:solidFill>
                  <a:srgbClr val="283442"/>
                </a:solidFill>
              </a:rPr>
              <a:t> </a:t>
            </a:r>
            <a:r>
              <a:rPr sz="2000" dirty="0" err="1">
                <a:solidFill>
                  <a:srgbClr val="283442"/>
                </a:solidFill>
              </a:rPr>
              <a:t>una</a:t>
            </a:r>
            <a:r>
              <a:rPr sz="2000" dirty="0">
                <a:solidFill>
                  <a:srgbClr val="283442"/>
                </a:solidFill>
              </a:rPr>
              <a:t> scanner signature media. La </a:t>
            </a:r>
            <a:r>
              <a:rPr sz="2000" dirty="0" err="1">
                <a:solidFill>
                  <a:srgbClr val="283442"/>
                </a:solidFill>
              </a:rPr>
              <a:t>generazione</a:t>
            </a:r>
            <a:r>
              <a:rPr sz="2000" dirty="0">
                <a:solidFill>
                  <a:srgbClr val="283442"/>
                </a:solidFill>
              </a:rPr>
              <a:t> finale è </a:t>
            </a:r>
            <a:r>
              <a:rPr sz="2000" dirty="0" err="1">
                <a:solidFill>
                  <a:srgbClr val="283442"/>
                </a:solidFill>
              </a:rPr>
              <a:t>residuale</a:t>
            </a:r>
            <a:r>
              <a:rPr sz="2000" dirty="0">
                <a:solidFill>
                  <a:srgbClr val="283442"/>
                </a:solidFill>
              </a:rPr>
              <a:t>, </a:t>
            </a:r>
            <a:r>
              <a:rPr sz="2000" dirty="0" err="1">
                <a:solidFill>
                  <a:srgbClr val="283442"/>
                </a:solidFill>
              </a:rPr>
              <a:t>quindi</a:t>
            </a:r>
            <a:r>
              <a:rPr sz="2000" dirty="0">
                <a:solidFill>
                  <a:srgbClr val="283442"/>
                </a:solidFill>
              </a:rPr>
              <a:t> </a:t>
            </a:r>
            <a:r>
              <a:rPr sz="2000" dirty="0" err="1">
                <a:solidFill>
                  <a:srgbClr val="283442"/>
                </a:solidFill>
              </a:rPr>
              <a:t>più</a:t>
            </a:r>
            <a:r>
              <a:rPr sz="2000" dirty="0">
                <a:solidFill>
                  <a:srgbClr val="283442"/>
                </a:solidFill>
              </a:rPr>
              <a:t> </a:t>
            </a:r>
            <a:r>
              <a:rPr sz="2000" dirty="0" err="1">
                <a:solidFill>
                  <a:srgbClr val="283442"/>
                </a:solidFill>
              </a:rPr>
              <a:t>conservativa</a:t>
            </a:r>
            <a:r>
              <a:rPr sz="2000" dirty="0">
                <a:solidFill>
                  <a:srgbClr val="283442"/>
                </a:solidFill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2148840"/>
            <a:ext cx="32461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sz="2000" dirty="0" err="1">
                <a:solidFill>
                  <a:srgbClr val="283442"/>
                </a:solidFill>
              </a:rPr>
              <a:t>Modifica</a:t>
            </a:r>
            <a:r>
              <a:rPr sz="2000" dirty="0">
                <a:solidFill>
                  <a:srgbClr val="283442"/>
                </a:solidFill>
              </a:rPr>
              <a:t> media e </a:t>
            </a:r>
            <a:r>
              <a:rPr sz="2000" dirty="0" err="1">
                <a:solidFill>
                  <a:srgbClr val="283442"/>
                </a:solidFill>
              </a:rPr>
              <a:t>deviazione</a:t>
            </a:r>
            <a:r>
              <a:rPr sz="2000" dirty="0">
                <a:solidFill>
                  <a:srgbClr val="283442"/>
                </a:solidFill>
              </a:rPr>
              <a:t> standard delle feature per </a:t>
            </a:r>
            <a:r>
              <a:rPr sz="2000" dirty="0" err="1">
                <a:solidFill>
                  <a:srgbClr val="283442"/>
                </a:solidFill>
              </a:rPr>
              <a:t>trasferire</a:t>
            </a:r>
            <a:r>
              <a:rPr sz="2000" dirty="0">
                <a:solidFill>
                  <a:srgbClr val="283442"/>
                </a:solidFill>
              </a:rPr>
              <a:t> lo stile scanner, </a:t>
            </a:r>
            <a:r>
              <a:rPr sz="2000" dirty="0" err="1">
                <a:solidFill>
                  <a:srgbClr val="283442"/>
                </a:solidFill>
              </a:rPr>
              <a:t>separando</a:t>
            </a:r>
            <a:r>
              <a:rPr sz="2000" dirty="0">
                <a:solidFill>
                  <a:srgbClr val="283442"/>
                </a:solidFill>
              </a:rPr>
              <a:t> </a:t>
            </a:r>
            <a:r>
              <a:rPr sz="2000" dirty="0" err="1">
                <a:solidFill>
                  <a:srgbClr val="283442"/>
                </a:solidFill>
              </a:rPr>
              <a:t>meglio</a:t>
            </a:r>
            <a:r>
              <a:rPr sz="2000" dirty="0">
                <a:solidFill>
                  <a:srgbClr val="283442"/>
                </a:solidFill>
              </a:rPr>
              <a:t> </a:t>
            </a:r>
            <a:r>
              <a:rPr sz="2000" dirty="0" err="1">
                <a:solidFill>
                  <a:srgbClr val="283442"/>
                </a:solidFill>
              </a:rPr>
              <a:t>contenuto</a:t>
            </a:r>
            <a:r>
              <a:rPr sz="2000" dirty="0">
                <a:solidFill>
                  <a:srgbClr val="283442"/>
                </a:solidFill>
              </a:rPr>
              <a:t> </a:t>
            </a:r>
            <a:r>
              <a:rPr sz="2000" dirty="0" err="1">
                <a:solidFill>
                  <a:srgbClr val="283442"/>
                </a:solidFill>
              </a:rPr>
              <a:t>anatomico</a:t>
            </a:r>
            <a:r>
              <a:rPr sz="2000" dirty="0">
                <a:solidFill>
                  <a:srgbClr val="283442"/>
                </a:solidFill>
              </a:rPr>
              <a:t> e stile.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10528"/>
            <a:ext cx="11064240" cy="18288"/>
          </a:xfrm>
          <a:prstGeom prst="rect">
            <a:avLst/>
          </a:prstGeom>
          <a:solidFill>
            <a:srgbClr val="D1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651967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97684"/>
                </a:solidFill>
              </a:rPr>
              <a:t>Domain Adaptation on ADNI MRI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97684"/>
                </a:solidFill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68780" y="2020824"/>
            <a:ext cx="1371600" cy="292608"/>
          </a:xfrm>
          <a:prstGeom prst="round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 err="1">
                <a:solidFill>
                  <a:srgbClr val="2A5CAA"/>
                </a:solidFill>
              </a:rPr>
              <a:t>CycleGAN</a:t>
            </a:r>
            <a:endParaRPr sz="1600" b="1" dirty="0">
              <a:solidFill>
                <a:srgbClr val="2A5CAA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318607" y="2020824"/>
            <a:ext cx="1554480" cy="292608"/>
          </a:xfrm>
          <a:prstGeom prst="round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2A5CAA"/>
                </a:solidFill>
              </a:rPr>
              <a:t>VAE </a:t>
            </a:r>
            <a:r>
              <a:rPr sz="1600" b="1" dirty="0" err="1">
                <a:solidFill>
                  <a:srgbClr val="2A5CAA"/>
                </a:solidFill>
              </a:rPr>
              <a:t>residuale</a:t>
            </a:r>
            <a:endParaRPr sz="1600" b="1" dirty="0">
              <a:solidFill>
                <a:srgbClr val="2A5CAA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358884" y="2005977"/>
            <a:ext cx="914400" cy="292608"/>
          </a:xfrm>
          <a:prstGeom prst="round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 err="1">
                <a:solidFill>
                  <a:srgbClr val="2A5CAA"/>
                </a:solidFill>
              </a:rPr>
              <a:t>AdaIN</a:t>
            </a:r>
            <a:endParaRPr sz="1600" b="1" dirty="0">
              <a:solidFill>
                <a:srgbClr val="2A5CAA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2A5CAA"/>
                </a:solidFill>
              </a:rPr>
              <a:t>CONFRONTO SPERIMENTALE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B1F3B"/>
                </a:solidFill>
              </a:rPr>
              <a:t>Stesso task, stessi split: cambia la strategia di augmentation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684"/>
                </a:solidFill>
              </a:rPr>
              <a:t>Questo rende il confronto tra modelli più leggibile e corretto.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423988"/>
              </p:ext>
            </p:extLst>
          </p:nvPr>
        </p:nvGraphicFramePr>
        <p:xfrm>
          <a:off x="2095347" y="1738048"/>
          <a:ext cx="8001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Configurazione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Composizione training set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Totale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Source-only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283442"/>
                          </a:solidFill>
                        </a:rPr>
                        <a:t>81 </a:t>
                      </a:r>
                      <a:r>
                        <a:rPr sz="2000" dirty="0" err="1">
                          <a:solidFill>
                            <a:srgbClr val="283442"/>
                          </a:solidFill>
                        </a:rPr>
                        <a:t>immagini</a:t>
                      </a:r>
                      <a:r>
                        <a:rPr sz="2000" dirty="0">
                          <a:solidFill>
                            <a:srgbClr val="283442"/>
                          </a:solidFill>
                        </a:rPr>
                        <a:t> source </a:t>
                      </a:r>
                      <a:r>
                        <a:rPr sz="2000" dirty="0" err="1">
                          <a:solidFill>
                            <a:srgbClr val="283442"/>
                          </a:solidFill>
                        </a:rPr>
                        <a:t>originali</a:t>
                      </a:r>
                      <a:endParaRPr sz="2000" dirty="0">
                        <a:solidFill>
                          <a:srgbClr val="283442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CycleGAN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81 originali + traduzioni source→target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162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VAE + 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81 originali + 81 VAE + 81 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283442"/>
                          </a:solidFill>
                        </a:rPr>
                        <a:t>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83442"/>
                          </a:solidFill>
                        </a:rPr>
                        <a:t>AdaIN + GAN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83442"/>
                          </a:solidFill>
                        </a:rPr>
                        <a:t>81 originali + 81 AdaIN + 81 GAN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283442"/>
                          </a:solidFill>
                        </a:rPr>
                        <a:t>243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5074920"/>
            <a:ext cx="9966960" cy="868680"/>
          </a:xfrm>
          <a:prstGeom prst="roundRect">
            <a:avLst/>
          </a:prstGeom>
          <a:solidFill>
            <a:srgbClr val="F2F7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B1F3B"/>
                </a:solidFill>
              </a:rPr>
              <a:t>Idea del confronto</a:t>
            </a:r>
          </a:p>
          <a:p>
            <a:pPr>
              <a:spcBef>
                <a:spcPts val="600"/>
              </a:spcBef>
            </a:pPr>
            <a:r>
              <a:rPr sz="1280">
                <a:solidFill>
                  <a:srgbClr val="283442"/>
                </a:solidFill>
              </a:rPr>
              <a:t>Tutti i modelli sono valutati sullo stesso target test Philips: ciò permette di attribuire le differenze di performance alla diversa augmentation.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064240" cy="18288"/>
          </a:xfrm>
          <a:prstGeom prst="rect">
            <a:avLst/>
          </a:prstGeom>
          <a:solidFill>
            <a:srgbClr val="D1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1967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97684"/>
                </a:solidFill>
              </a:rPr>
              <a:t>Domain Adaptation on ADNI MRI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97684"/>
                </a:solidFill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2A5CAA"/>
                </a:solidFill>
              </a:rPr>
              <a:t>RISULTATI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B1F3B"/>
                </a:solidFill>
              </a:rPr>
              <a:t>AdaIN + GAN è il modello migliore sul target Philips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684"/>
                </a:solidFill>
              </a:rPr>
              <a:t>Il miglioramento più importante si osserva sulla macro-F1, che è la metrica più informativa in presenza di sbilanciamento.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609316"/>
              </p:ext>
            </p:extLst>
          </p:nvPr>
        </p:nvGraphicFramePr>
        <p:xfrm>
          <a:off x="502920" y="2132273"/>
          <a:ext cx="4866132" cy="3182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1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Modello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Macro-F1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1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83442"/>
                          </a:solidFill>
                        </a:rPr>
                        <a:t>Source-only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283442"/>
                          </a:solidFill>
                        </a:rPr>
                        <a:t>0.6571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83442"/>
                          </a:solidFill>
                        </a:rPr>
                        <a:t>0.3966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1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283442"/>
                          </a:solidFill>
                        </a:rPr>
                        <a:t>CycleGAN</a:t>
                      </a:r>
                      <a:endParaRPr sz="1800" dirty="0">
                        <a:solidFill>
                          <a:srgbClr val="283442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83442"/>
                          </a:solidFill>
                        </a:rPr>
                        <a:t>0.4286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83442"/>
                          </a:solidFill>
                        </a:rPr>
                        <a:t>0.4281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1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83442"/>
                          </a:solidFill>
                        </a:rPr>
                        <a:t>VAE + 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83442"/>
                          </a:solidFill>
                        </a:rPr>
                        <a:t>0.6286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83442"/>
                          </a:solidFill>
                        </a:rPr>
                        <a:t>0.3860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1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83442"/>
                          </a:solidFill>
                        </a:rPr>
                        <a:t>AdaIN + GAN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83442"/>
                          </a:solidFill>
                        </a:rPr>
                        <a:t>0.7143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83442"/>
                          </a:solidFill>
                        </a:rPr>
                        <a:t>0.6500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6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83442"/>
                          </a:solidFill>
                        </a:rPr>
                        <a:t>Oracle target-supervised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83442"/>
                          </a:solidFill>
                        </a:rPr>
                        <a:t>0.3429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283442"/>
                          </a:solidFill>
                        </a:rPr>
                        <a:t>0.3066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760720" y="1783080"/>
          <a:ext cx="55778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897880" y="5074920"/>
            <a:ext cx="5303520" cy="868680"/>
          </a:xfrm>
          <a:prstGeom prst="roundRect">
            <a:avLst/>
          </a:prstGeom>
          <a:solidFill>
            <a:srgbClr val="F2F7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B1F3B"/>
                </a:solidFill>
              </a:rPr>
              <a:t>Takeaway principale</a:t>
            </a:r>
          </a:p>
          <a:p>
            <a:pPr>
              <a:spcBef>
                <a:spcPts val="600"/>
              </a:spcBef>
            </a:pPr>
            <a:r>
              <a:rPr sz="1280">
                <a:solidFill>
                  <a:srgbClr val="283442"/>
                </a:solidFill>
              </a:rPr>
              <a:t>AdaIN + GAN migliora rispetto alla baseline di +0.0571 in accuracy e soprattutto di +0.2534 in macro-F1.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064240" cy="18288"/>
          </a:xfrm>
          <a:prstGeom prst="rect">
            <a:avLst/>
          </a:prstGeom>
          <a:solidFill>
            <a:srgbClr val="D1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651967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97684"/>
                </a:solidFill>
              </a:rPr>
              <a:t>Domain Adaptation on ADNI MRI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97684"/>
                </a:solidFill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2A5CAA"/>
                </a:solidFill>
              </a:rPr>
              <a:t>ANALISI QUALITATIVA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B1F3B"/>
                </a:solidFill>
              </a:rPr>
              <a:t>Le preview mostrano differenze importanti tra le augmentation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684"/>
                </a:solidFill>
              </a:rPr>
              <a:t>L’osservazione qualitativa aiuta a interpretare i risultati quantitativi.</a:t>
            </a:r>
          </a:p>
        </p:txBody>
      </p:sp>
      <p:pic>
        <p:nvPicPr>
          <p:cNvPr id="6" name="Picture 5" descr="report_page_20.png"/>
          <p:cNvPicPr>
            <a:picLocks noChangeAspect="1"/>
          </p:cNvPicPr>
          <p:nvPr/>
        </p:nvPicPr>
        <p:blipFill>
          <a:blip r:embed="rId2"/>
          <a:srcRect l="9997" t="24040" r="10260" b="19192"/>
          <a:stretch>
            <a:fillRect/>
          </a:stretch>
        </p:blipFill>
        <p:spPr>
          <a:xfrm>
            <a:off x="502920" y="1645074"/>
            <a:ext cx="4770120" cy="48014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39840" y="1865376"/>
            <a:ext cx="5044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dirty="0">
                <a:solidFill>
                  <a:srgbClr val="283442"/>
                </a:solidFill>
              </a:rPr>
              <a:t>La </a:t>
            </a:r>
            <a:r>
              <a:rPr dirty="0" err="1">
                <a:solidFill>
                  <a:srgbClr val="283442"/>
                </a:solidFill>
              </a:rPr>
              <a:t>generazione</a:t>
            </a:r>
            <a:r>
              <a:rPr dirty="0">
                <a:solidFill>
                  <a:srgbClr val="283442"/>
                </a:solidFill>
              </a:rPr>
              <a:t> VAE </a:t>
            </a:r>
            <a:r>
              <a:rPr dirty="0" err="1">
                <a:solidFill>
                  <a:srgbClr val="283442"/>
                </a:solidFill>
              </a:rPr>
              <a:t>residuale</a:t>
            </a:r>
            <a:r>
              <a:rPr dirty="0">
                <a:solidFill>
                  <a:srgbClr val="283442"/>
                </a:solidFill>
              </a:rPr>
              <a:t> </a:t>
            </a:r>
            <a:r>
              <a:rPr dirty="0" err="1">
                <a:solidFill>
                  <a:srgbClr val="283442"/>
                </a:solidFill>
              </a:rPr>
              <a:t>tende</a:t>
            </a:r>
            <a:r>
              <a:rPr dirty="0">
                <a:solidFill>
                  <a:srgbClr val="283442"/>
                </a:solidFill>
              </a:rPr>
              <a:t> a </a:t>
            </a:r>
            <a:r>
              <a:rPr dirty="0" err="1">
                <a:solidFill>
                  <a:srgbClr val="283442"/>
                </a:solidFill>
              </a:rPr>
              <a:t>preservare</a:t>
            </a:r>
            <a:r>
              <a:rPr dirty="0">
                <a:solidFill>
                  <a:srgbClr val="283442"/>
                </a:solidFill>
              </a:rPr>
              <a:t> </a:t>
            </a:r>
            <a:r>
              <a:rPr dirty="0" err="1">
                <a:solidFill>
                  <a:srgbClr val="283442"/>
                </a:solidFill>
              </a:rPr>
              <a:t>l’anatomia</a:t>
            </a:r>
            <a:r>
              <a:rPr dirty="0">
                <a:solidFill>
                  <a:srgbClr val="283442"/>
                </a:solidFill>
              </a:rPr>
              <a:t> e a </a:t>
            </a:r>
            <a:r>
              <a:rPr dirty="0" err="1">
                <a:solidFill>
                  <a:srgbClr val="283442"/>
                </a:solidFill>
              </a:rPr>
              <a:t>introdurre</a:t>
            </a:r>
            <a:r>
              <a:rPr dirty="0">
                <a:solidFill>
                  <a:srgbClr val="283442"/>
                </a:solidFill>
              </a:rPr>
              <a:t> </a:t>
            </a:r>
            <a:r>
              <a:rPr dirty="0" err="1">
                <a:solidFill>
                  <a:srgbClr val="283442"/>
                </a:solidFill>
              </a:rPr>
              <a:t>modifiche</a:t>
            </a:r>
            <a:r>
              <a:rPr dirty="0">
                <a:solidFill>
                  <a:srgbClr val="283442"/>
                </a:solidFill>
              </a:rPr>
              <a:t> </a:t>
            </a:r>
            <a:r>
              <a:rPr dirty="0" err="1">
                <a:solidFill>
                  <a:srgbClr val="283442"/>
                </a:solidFill>
              </a:rPr>
              <a:t>più</a:t>
            </a:r>
            <a:r>
              <a:rPr dirty="0">
                <a:solidFill>
                  <a:srgbClr val="283442"/>
                </a:solidFill>
              </a:rPr>
              <a:t> </a:t>
            </a:r>
            <a:r>
              <a:rPr dirty="0" err="1">
                <a:solidFill>
                  <a:srgbClr val="283442"/>
                </a:solidFill>
              </a:rPr>
              <a:t>contenute</a:t>
            </a:r>
            <a:r>
              <a:rPr dirty="0">
                <a:solidFill>
                  <a:srgbClr val="283442"/>
                </a:solidFill>
              </a:rPr>
              <a:t>. </a:t>
            </a:r>
            <a:r>
              <a:rPr dirty="0" err="1">
                <a:solidFill>
                  <a:srgbClr val="283442"/>
                </a:solidFill>
              </a:rPr>
              <a:t>CycleGAN</a:t>
            </a:r>
            <a:r>
              <a:rPr dirty="0">
                <a:solidFill>
                  <a:srgbClr val="283442"/>
                </a:solidFill>
              </a:rPr>
              <a:t> produce </a:t>
            </a:r>
            <a:r>
              <a:rPr dirty="0" err="1">
                <a:solidFill>
                  <a:srgbClr val="283442"/>
                </a:solidFill>
              </a:rPr>
              <a:t>trasformazioni</a:t>
            </a:r>
            <a:r>
              <a:rPr dirty="0">
                <a:solidFill>
                  <a:srgbClr val="283442"/>
                </a:solidFill>
              </a:rPr>
              <a:t> </a:t>
            </a:r>
            <a:r>
              <a:rPr dirty="0" err="1">
                <a:solidFill>
                  <a:srgbClr val="283442"/>
                </a:solidFill>
              </a:rPr>
              <a:t>più</a:t>
            </a:r>
            <a:r>
              <a:rPr dirty="0">
                <a:solidFill>
                  <a:srgbClr val="283442"/>
                </a:solidFill>
              </a:rPr>
              <a:t> </a:t>
            </a:r>
            <a:r>
              <a:rPr dirty="0" err="1">
                <a:solidFill>
                  <a:srgbClr val="283442"/>
                </a:solidFill>
              </a:rPr>
              <a:t>forti</a:t>
            </a:r>
            <a:r>
              <a:rPr dirty="0">
                <a:solidFill>
                  <a:srgbClr val="283442"/>
                </a:solidFill>
              </a:rPr>
              <a:t>, </a:t>
            </a:r>
            <a:r>
              <a:rPr dirty="0" err="1">
                <a:solidFill>
                  <a:srgbClr val="283442"/>
                </a:solidFill>
              </a:rPr>
              <a:t>che</a:t>
            </a:r>
            <a:r>
              <a:rPr dirty="0">
                <a:solidFill>
                  <a:srgbClr val="283442"/>
                </a:solidFill>
              </a:rPr>
              <a:t> </a:t>
            </a:r>
            <a:r>
              <a:rPr dirty="0" err="1">
                <a:solidFill>
                  <a:srgbClr val="283442"/>
                </a:solidFill>
              </a:rPr>
              <a:t>possono</a:t>
            </a:r>
            <a:r>
              <a:rPr dirty="0">
                <a:solidFill>
                  <a:srgbClr val="283442"/>
                </a:solidFill>
              </a:rPr>
              <a:t> </a:t>
            </a:r>
            <a:r>
              <a:rPr dirty="0" err="1">
                <a:solidFill>
                  <a:srgbClr val="283442"/>
                </a:solidFill>
              </a:rPr>
              <a:t>essere</a:t>
            </a:r>
            <a:r>
              <a:rPr dirty="0">
                <a:solidFill>
                  <a:srgbClr val="283442"/>
                </a:solidFill>
              </a:rPr>
              <a:t> </a:t>
            </a:r>
            <a:r>
              <a:rPr dirty="0" err="1">
                <a:solidFill>
                  <a:srgbClr val="283442"/>
                </a:solidFill>
              </a:rPr>
              <a:t>utili</a:t>
            </a:r>
            <a:r>
              <a:rPr dirty="0">
                <a:solidFill>
                  <a:srgbClr val="283442"/>
                </a:solidFill>
              </a:rPr>
              <a:t> ma </a:t>
            </a:r>
            <a:r>
              <a:rPr dirty="0" err="1">
                <a:solidFill>
                  <a:srgbClr val="283442"/>
                </a:solidFill>
              </a:rPr>
              <a:t>anche</a:t>
            </a:r>
            <a:r>
              <a:rPr dirty="0">
                <a:solidFill>
                  <a:srgbClr val="283442"/>
                </a:solidFill>
              </a:rPr>
              <a:t> </a:t>
            </a:r>
            <a:r>
              <a:rPr dirty="0" err="1">
                <a:solidFill>
                  <a:srgbClr val="283442"/>
                </a:solidFill>
              </a:rPr>
              <a:t>rischiose</a:t>
            </a:r>
            <a:r>
              <a:rPr dirty="0">
                <a:solidFill>
                  <a:srgbClr val="283442"/>
                </a:solidFill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840" y="4114800"/>
            <a:ext cx="5044440" cy="1508760"/>
          </a:xfrm>
          <a:prstGeom prst="roundRect">
            <a:avLst/>
          </a:prstGeom>
          <a:solidFill>
            <a:schemeClr val="bg1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dirty="0">
                <a:solidFill>
                  <a:srgbClr val="283442"/>
                </a:solidFill>
              </a:rPr>
              <a:t>Le preview non </a:t>
            </a:r>
            <a:r>
              <a:rPr dirty="0" err="1">
                <a:solidFill>
                  <a:srgbClr val="283442"/>
                </a:solidFill>
              </a:rPr>
              <a:t>costituiscono</a:t>
            </a:r>
            <a:r>
              <a:rPr dirty="0">
                <a:solidFill>
                  <a:srgbClr val="283442"/>
                </a:solidFill>
              </a:rPr>
              <a:t> </a:t>
            </a:r>
            <a:r>
              <a:rPr dirty="0" err="1">
                <a:solidFill>
                  <a:srgbClr val="283442"/>
                </a:solidFill>
              </a:rPr>
              <a:t>una</a:t>
            </a:r>
            <a:r>
              <a:rPr dirty="0">
                <a:solidFill>
                  <a:srgbClr val="283442"/>
                </a:solidFill>
              </a:rPr>
              <a:t> </a:t>
            </a:r>
            <a:r>
              <a:rPr dirty="0" err="1">
                <a:solidFill>
                  <a:srgbClr val="283442"/>
                </a:solidFill>
              </a:rPr>
              <a:t>validazione</a:t>
            </a:r>
            <a:r>
              <a:rPr dirty="0">
                <a:solidFill>
                  <a:srgbClr val="283442"/>
                </a:solidFill>
              </a:rPr>
              <a:t> </a:t>
            </a:r>
            <a:r>
              <a:rPr dirty="0" err="1">
                <a:solidFill>
                  <a:srgbClr val="283442"/>
                </a:solidFill>
              </a:rPr>
              <a:t>clinica</a:t>
            </a:r>
            <a:r>
              <a:rPr dirty="0">
                <a:solidFill>
                  <a:srgbClr val="283442"/>
                </a:solidFill>
              </a:rPr>
              <a:t>: </a:t>
            </a:r>
            <a:r>
              <a:rPr dirty="0" err="1">
                <a:solidFill>
                  <a:srgbClr val="283442"/>
                </a:solidFill>
              </a:rPr>
              <a:t>servono</a:t>
            </a:r>
            <a:r>
              <a:rPr dirty="0">
                <a:solidFill>
                  <a:srgbClr val="283442"/>
                </a:solidFill>
              </a:rPr>
              <a:t> come </a:t>
            </a:r>
            <a:r>
              <a:rPr dirty="0" err="1">
                <a:solidFill>
                  <a:srgbClr val="283442"/>
                </a:solidFill>
              </a:rPr>
              <a:t>controllo</a:t>
            </a:r>
            <a:r>
              <a:rPr dirty="0">
                <a:solidFill>
                  <a:srgbClr val="283442"/>
                </a:solidFill>
              </a:rPr>
              <a:t> </a:t>
            </a:r>
            <a:r>
              <a:rPr dirty="0" err="1">
                <a:solidFill>
                  <a:srgbClr val="283442"/>
                </a:solidFill>
              </a:rPr>
              <a:t>visivo</a:t>
            </a:r>
            <a:r>
              <a:rPr dirty="0">
                <a:solidFill>
                  <a:srgbClr val="283442"/>
                </a:solidFill>
              </a:rPr>
              <a:t>, non come </a:t>
            </a:r>
            <a:r>
              <a:rPr dirty="0" err="1">
                <a:solidFill>
                  <a:srgbClr val="283442"/>
                </a:solidFill>
              </a:rPr>
              <a:t>prova</a:t>
            </a:r>
            <a:r>
              <a:rPr dirty="0">
                <a:solidFill>
                  <a:srgbClr val="283442"/>
                </a:solidFill>
              </a:rPr>
              <a:t> </a:t>
            </a:r>
            <a:r>
              <a:rPr dirty="0" err="1">
                <a:solidFill>
                  <a:srgbClr val="283442"/>
                </a:solidFill>
              </a:rPr>
              <a:t>definitiva</a:t>
            </a:r>
            <a:r>
              <a:rPr dirty="0">
                <a:solidFill>
                  <a:srgbClr val="283442"/>
                </a:solidFill>
              </a:rPr>
              <a:t> della </a:t>
            </a:r>
            <a:r>
              <a:rPr dirty="0" err="1">
                <a:solidFill>
                  <a:srgbClr val="283442"/>
                </a:solidFill>
              </a:rPr>
              <a:t>qualità</a:t>
            </a:r>
            <a:r>
              <a:rPr dirty="0">
                <a:solidFill>
                  <a:srgbClr val="283442"/>
                </a:solidFill>
              </a:rPr>
              <a:t> medica delle </a:t>
            </a:r>
            <a:r>
              <a:rPr dirty="0" err="1">
                <a:solidFill>
                  <a:srgbClr val="283442"/>
                </a:solidFill>
              </a:rPr>
              <a:t>immagini</a:t>
            </a:r>
            <a:r>
              <a:rPr dirty="0">
                <a:solidFill>
                  <a:srgbClr val="283442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064240" cy="18288"/>
          </a:xfrm>
          <a:prstGeom prst="rect">
            <a:avLst/>
          </a:prstGeom>
          <a:solidFill>
            <a:srgbClr val="D1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651967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97684"/>
                </a:solidFill>
              </a:rPr>
              <a:t>Domain Adaptation on ADNI MRI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97684"/>
                </a:solidFill>
              </a:rPr>
              <a:t>10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4609D5F-A11E-4A6E-986F-DEE0454067ED}"/>
              </a:ext>
            </a:extLst>
          </p:cNvPr>
          <p:cNvSpPr txBox="1"/>
          <p:nvPr/>
        </p:nvSpPr>
        <p:spPr>
          <a:xfrm>
            <a:off x="7701280" y="1690100"/>
            <a:ext cx="214172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rgbClr val="0B1F3B"/>
                </a:solidFill>
              </a:rPr>
              <a:t>Cosa osserviamo?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A7BC099-BE1A-2B86-C199-05A87B04BD75}"/>
              </a:ext>
            </a:extLst>
          </p:cNvPr>
          <p:cNvSpPr txBox="1"/>
          <p:nvPr/>
        </p:nvSpPr>
        <p:spPr>
          <a:xfrm>
            <a:off x="7521702" y="3934444"/>
            <a:ext cx="25008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rgbClr val="0B1F3B"/>
                </a:solidFill>
              </a:rPr>
              <a:t>Limite Analisi Visuale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2A5CAA"/>
                </a:solidFill>
              </a:rPr>
              <a:t>LIMITI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B1F3B"/>
                </a:solidFill>
              </a:rPr>
              <a:t>I risultati sono promettenti, ma vanno letti con cautela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684"/>
                </a:solidFill>
              </a:rPr>
              <a:t>Riconoscere i limiti è parte del rigore sperimentale.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92580" y="1828800"/>
            <a:ext cx="2697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sz="1600" dirty="0" err="1">
                <a:solidFill>
                  <a:srgbClr val="283442"/>
                </a:solidFill>
              </a:rPr>
              <a:t>Pochi</a:t>
            </a:r>
            <a:r>
              <a:rPr sz="1600" dirty="0">
                <a:solidFill>
                  <a:srgbClr val="283442"/>
                </a:solidFill>
              </a:rPr>
              <a:t> </a:t>
            </a:r>
            <a:r>
              <a:rPr sz="1600" dirty="0" err="1">
                <a:solidFill>
                  <a:srgbClr val="283442"/>
                </a:solidFill>
              </a:rPr>
              <a:t>esempi</a:t>
            </a:r>
            <a:r>
              <a:rPr sz="1600" dirty="0">
                <a:solidFill>
                  <a:srgbClr val="283442"/>
                </a:solidFill>
              </a:rPr>
              <a:t> e </a:t>
            </a:r>
            <a:r>
              <a:rPr sz="1600" dirty="0" err="1">
                <a:solidFill>
                  <a:srgbClr val="283442"/>
                </a:solidFill>
              </a:rPr>
              <a:t>sbilanciamento</a:t>
            </a:r>
            <a:r>
              <a:rPr sz="1600" dirty="0">
                <a:solidFill>
                  <a:srgbClr val="283442"/>
                </a:solidFill>
              </a:rPr>
              <a:t> </a:t>
            </a:r>
            <a:r>
              <a:rPr sz="1600" dirty="0" err="1">
                <a:solidFill>
                  <a:srgbClr val="283442"/>
                </a:solidFill>
              </a:rPr>
              <a:t>tra</a:t>
            </a:r>
            <a:r>
              <a:rPr sz="1600" dirty="0">
                <a:solidFill>
                  <a:srgbClr val="283442"/>
                </a:solidFill>
              </a:rPr>
              <a:t> le </a:t>
            </a:r>
            <a:r>
              <a:rPr sz="1600" dirty="0" err="1">
                <a:solidFill>
                  <a:srgbClr val="283442"/>
                </a:solidFill>
              </a:rPr>
              <a:t>classi</a:t>
            </a:r>
            <a:r>
              <a:rPr sz="1600" dirty="0">
                <a:solidFill>
                  <a:srgbClr val="283442"/>
                </a:solidFill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47260" y="1828800"/>
            <a:ext cx="2697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sz="1600" dirty="0">
                <a:solidFill>
                  <a:srgbClr val="283442"/>
                </a:solidFill>
              </a:rPr>
              <a:t>Una sola slice 2D centrale </a:t>
            </a:r>
            <a:r>
              <a:rPr sz="1600" dirty="0" err="1">
                <a:solidFill>
                  <a:srgbClr val="283442"/>
                </a:solidFill>
              </a:rPr>
              <a:t>invece</a:t>
            </a:r>
            <a:r>
              <a:rPr sz="1600" dirty="0">
                <a:solidFill>
                  <a:srgbClr val="283442"/>
                </a:solidFill>
              </a:rPr>
              <a:t> del volume 3D.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1940" y="1828800"/>
            <a:ext cx="2697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sz="1600" dirty="0">
                <a:solidFill>
                  <a:srgbClr val="283442"/>
                </a:solidFill>
              </a:rPr>
              <a:t>Augmentation non </a:t>
            </a:r>
            <a:r>
              <a:rPr sz="1600" dirty="0" err="1">
                <a:solidFill>
                  <a:srgbClr val="283442"/>
                </a:solidFill>
              </a:rPr>
              <a:t>supervisionata</a:t>
            </a:r>
            <a:r>
              <a:rPr sz="1600" dirty="0">
                <a:solidFill>
                  <a:srgbClr val="283442"/>
                </a:solidFill>
              </a:rPr>
              <a:t> e senza </a:t>
            </a:r>
            <a:r>
              <a:rPr sz="1600" dirty="0" err="1">
                <a:solidFill>
                  <a:srgbClr val="283442"/>
                </a:solidFill>
              </a:rPr>
              <a:t>validazione</a:t>
            </a:r>
            <a:r>
              <a:rPr sz="1600" dirty="0">
                <a:solidFill>
                  <a:srgbClr val="283442"/>
                </a:solidFill>
              </a:rPr>
              <a:t> </a:t>
            </a:r>
            <a:r>
              <a:rPr sz="1600" dirty="0" err="1">
                <a:solidFill>
                  <a:srgbClr val="283442"/>
                </a:solidFill>
              </a:rPr>
              <a:t>clinica</a:t>
            </a:r>
            <a:r>
              <a:rPr sz="1600" dirty="0">
                <a:solidFill>
                  <a:srgbClr val="283442"/>
                </a:solidFill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44340" y="3578384"/>
            <a:ext cx="3657600" cy="1325880"/>
          </a:xfrm>
          <a:prstGeom prst="roundRect">
            <a:avLst/>
          </a:prstGeom>
          <a:solidFill>
            <a:srgbClr val="F2F7FF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>
                <a:solidFill>
                  <a:srgbClr val="0B1F3B"/>
                </a:solidFill>
              </a:rPr>
              <a:t>Valutazione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283442"/>
                </a:solidFill>
              </a:rPr>
              <a:t>Mancano più seed, più ablation e rotazione dei produttori come target.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215160"/>
            <a:ext cx="9418320" cy="984472"/>
          </a:xfrm>
          <a:prstGeom prst="roundRect">
            <a:avLst/>
          </a:prstGeom>
          <a:solidFill>
            <a:srgbClr val="E8F0FC"/>
          </a:solidFill>
          <a:ln>
            <a:solidFill>
              <a:srgbClr val="D1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 dirty="0" err="1">
                <a:solidFill>
                  <a:srgbClr val="0B1F3B"/>
                </a:solidFill>
              </a:rPr>
              <a:t>Interpretazione</a:t>
            </a:r>
            <a:r>
              <a:rPr b="1" dirty="0">
                <a:solidFill>
                  <a:srgbClr val="0B1F3B"/>
                </a:solidFill>
              </a:rPr>
              <a:t> </a:t>
            </a:r>
            <a:r>
              <a:rPr b="1" dirty="0" err="1">
                <a:solidFill>
                  <a:srgbClr val="0B1F3B"/>
                </a:solidFill>
              </a:rPr>
              <a:t>corretta</a:t>
            </a:r>
            <a:endParaRPr b="1" dirty="0">
              <a:solidFill>
                <a:srgbClr val="0B1F3B"/>
              </a:solidFill>
            </a:endParaRPr>
          </a:p>
          <a:p>
            <a:pPr>
              <a:spcBef>
                <a:spcPts val="600"/>
              </a:spcBef>
            </a:pPr>
            <a:r>
              <a:rPr sz="1600" dirty="0">
                <a:solidFill>
                  <a:srgbClr val="283442"/>
                </a:solidFill>
              </a:rPr>
              <a:t>Il </a:t>
            </a:r>
            <a:r>
              <a:rPr sz="1600" dirty="0" err="1">
                <a:solidFill>
                  <a:srgbClr val="283442"/>
                </a:solidFill>
              </a:rPr>
              <a:t>progetto</a:t>
            </a:r>
            <a:r>
              <a:rPr sz="1600" dirty="0">
                <a:solidFill>
                  <a:srgbClr val="283442"/>
                </a:solidFill>
              </a:rPr>
              <a:t> non </a:t>
            </a:r>
            <a:r>
              <a:rPr sz="1600" dirty="0" err="1">
                <a:solidFill>
                  <a:srgbClr val="283442"/>
                </a:solidFill>
              </a:rPr>
              <a:t>vuole</a:t>
            </a:r>
            <a:r>
              <a:rPr sz="1600" dirty="0">
                <a:solidFill>
                  <a:srgbClr val="283442"/>
                </a:solidFill>
              </a:rPr>
              <a:t> </a:t>
            </a:r>
            <a:r>
              <a:rPr sz="1600" dirty="0" err="1">
                <a:solidFill>
                  <a:srgbClr val="283442"/>
                </a:solidFill>
              </a:rPr>
              <a:t>proporre</a:t>
            </a:r>
            <a:r>
              <a:rPr sz="1600" dirty="0">
                <a:solidFill>
                  <a:srgbClr val="283442"/>
                </a:solidFill>
              </a:rPr>
              <a:t> un </a:t>
            </a:r>
            <a:r>
              <a:rPr sz="1600" dirty="0" err="1">
                <a:solidFill>
                  <a:srgbClr val="283442"/>
                </a:solidFill>
              </a:rPr>
              <a:t>sistema</a:t>
            </a:r>
            <a:r>
              <a:rPr sz="1600" dirty="0">
                <a:solidFill>
                  <a:srgbClr val="283442"/>
                </a:solidFill>
              </a:rPr>
              <a:t> </a:t>
            </a:r>
            <a:r>
              <a:rPr sz="1600" dirty="0" err="1">
                <a:solidFill>
                  <a:srgbClr val="283442"/>
                </a:solidFill>
              </a:rPr>
              <a:t>clinico</a:t>
            </a:r>
            <a:r>
              <a:rPr sz="1600" dirty="0">
                <a:solidFill>
                  <a:srgbClr val="283442"/>
                </a:solidFill>
              </a:rPr>
              <a:t> pronto </a:t>
            </a:r>
            <a:r>
              <a:rPr sz="1600" dirty="0" err="1">
                <a:solidFill>
                  <a:srgbClr val="283442"/>
                </a:solidFill>
              </a:rPr>
              <a:t>all’uso</a:t>
            </a:r>
            <a:r>
              <a:rPr sz="1600" dirty="0">
                <a:solidFill>
                  <a:srgbClr val="283442"/>
                </a:solidFill>
              </a:rPr>
              <a:t>, ma </a:t>
            </a:r>
            <a:r>
              <a:rPr sz="1600" dirty="0" err="1">
                <a:solidFill>
                  <a:srgbClr val="283442"/>
                </a:solidFill>
              </a:rPr>
              <a:t>una</a:t>
            </a:r>
            <a:r>
              <a:rPr sz="1600" dirty="0">
                <a:solidFill>
                  <a:srgbClr val="283442"/>
                </a:solidFill>
              </a:rPr>
              <a:t> pipeline </a:t>
            </a:r>
            <a:r>
              <a:rPr sz="1600" dirty="0" err="1">
                <a:solidFill>
                  <a:srgbClr val="283442"/>
                </a:solidFill>
              </a:rPr>
              <a:t>sperimentale</a:t>
            </a:r>
            <a:r>
              <a:rPr sz="1600" dirty="0">
                <a:solidFill>
                  <a:srgbClr val="283442"/>
                </a:solidFill>
              </a:rPr>
              <a:t> completa e </a:t>
            </a:r>
            <a:r>
              <a:rPr sz="1600" dirty="0" err="1">
                <a:solidFill>
                  <a:srgbClr val="283442"/>
                </a:solidFill>
              </a:rPr>
              <a:t>riproducibile</a:t>
            </a:r>
            <a:r>
              <a:rPr sz="1600" dirty="0">
                <a:solidFill>
                  <a:srgbClr val="283442"/>
                </a:solidFill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10528"/>
            <a:ext cx="11064240" cy="18288"/>
          </a:xfrm>
          <a:prstGeom prst="rect">
            <a:avLst/>
          </a:prstGeom>
          <a:solidFill>
            <a:srgbClr val="D1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651967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97684"/>
                </a:solidFill>
              </a:rPr>
              <a:t>Domain Adaptation on ADNI MRI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97684"/>
                </a:solidFill>
              </a:rPr>
              <a:t>11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7D58F95-6511-EC18-6ED5-90E5D560B6AF}"/>
              </a:ext>
            </a:extLst>
          </p:cNvPr>
          <p:cNvSpPr txBox="1"/>
          <p:nvPr/>
        </p:nvSpPr>
        <p:spPr>
          <a:xfrm>
            <a:off x="2410460" y="1627632"/>
            <a:ext cx="122936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rgbClr val="0B1F3B"/>
                </a:solidFill>
              </a:rPr>
              <a:t>Dataset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97BF084-D02A-992A-49A6-A083F4FF1F5C}"/>
              </a:ext>
            </a:extLst>
          </p:cNvPr>
          <p:cNvSpPr txBox="1"/>
          <p:nvPr/>
        </p:nvSpPr>
        <p:spPr>
          <a:xfrm>
            <a:off x="5107940" y="1634990"/>
            <a:ext cx="214172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rgbClr val="0B1F3B"/>
                </a:solidFill>
              </a:rPr>
              <a:t>Rappresentazione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E1122F00-0D71-B9A7-746D-8A372E049733}"/>
              </a:ext>
            </a:extLst>
          </p:cNvPr>
          <p:cNvSpPr txBox="1"/>
          <p:nvPr/>
        </p:nvSpPr>
        <p:spPr>
          <a:xfrm>
            <a:off x="8529320" y="1642840"/>
            <a:ext cx="14427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rgbClr val="0B1F3B"/>
                </a:solidFill>
              </a:rPr>
              <a:t>Generazione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69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Conclusioni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10469880" cy="1188720"/>
          </a:xfrm>
          <a:prstGeom prst="round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Messaggio principale: nella configurazione finale, AdaIN + GAN è la strategia che generalizza meglio sul target Philips.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32461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20" b="1">
                <a:solidFill>
                  <a:srgbClr val="0B1F3B"/>
                </a:solidFill>
              </a:rPr>
              <a:t>Il domain shift da scanner è reale e può ridurre la robustezza di un classificatore MRI.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45152" y="3657600"/>
            <a:ext cx="32461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20" b="1">
                <a:solidFill>
                  <a:srgbClr val="0B1F3B"/>
                </a:solidFill>
              </a:rPr>
              <a:t>La macro-F1 è fondamentale per leggere correttamente i risultati su dati sbilanciati.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75904" y="3657600"/>
            <a:ext cx="32461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20" b="1">
                <a:solidFill>
                  <a:srgbClr val="0B1F3B"/>
                </a:solidFill>
              </a:rPr>
              <a:t>Il passo successivo è estendere la pipeline con modelli 2.5D/3D e una validazione più ampia.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78440" y="5989320"/>
            <a:ext cx="10058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F3B"/>
                </a:solidFill>
              </a:rPr>
              <a:t>Grazie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08076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CDBF2"/>
                </a:solidFill>
              </a:rPr>
              <a:t>Questions &amp; discussion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1073</Words>
  <Application>Microsoft Office PowerPoint</Application>
  <PresentationFormat>Widescreen</PresentationFormat>
  <Paragraphs>202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Casa Micieli</cp:lastModifiedBy>
  <cp:revision>4</cp:revision>
  <dcterms:created xsi:type="dcterms:W3CDTF">2013-01-27T09:14:16Z</dcterms:created>
  <dcterms:modified xsi:type="dcterms:W3CDTF">2026-06-13T23:34:57Z</dcterms:modified>
  <cp:category/>
</cp:coreProperties>
</file>